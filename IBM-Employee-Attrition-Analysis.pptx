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Gelasio"/>
      <p:regular r:id="rId201314"/>
    </p:embeddedFont>
    <p:embeddedFont>
      <p:font typeface="Gelasio SemiBold"/>
      <p:regular r:id="rId201315"/>
    </p:embeddedFont>
    <p:embeddedFont>
      <p:font typeface="Gelasio Bold"/>
      <p:regular r:id="rId201316"/>
    </p:embeddedFont>
    <p:embeddedFont>
      <p:font typeface="Gelasio Medium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302D2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464342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1.png"/><Relationship Id="rId4" Type="http://schemas.openxmlformats.org/officeDocument/2006/relationships/image" Target="../media/image-5-2.sv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image" Target="../media/image-6-3.svg"/><Relationship Id="rId4" Type="http://schemas.openxmlformats.org/officeDocument/2006/relationships/image" Target="../media/image-6-4.png"/><Relationship Id="rId5" Type="http://schemas.openxmlformats.org/officeDocument/2006/relationships/image" Target="../media/image-6-5.svg"/><Relationship Id="rId6" Type="http://schemas.openxmlformats.org/officeDocument/2006/relationships/image" Target="../media/image-6-6.png"/><Relationship Id="rId7" Type="http://schemas.openxmlformats.org/officeDocument/2006/relationships/image" Target="../media/image-6-7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1.png"/><Relationship Id="rId4" Type="http://schemas.openxmlformats.org/officeDocument/2006/relationships/image" Target="../media/image-7-2.svg"/><Relationship Id="rId5" Type="http://schemas.openxmlformats.org/officeDocument/2006/relationships/image" Target="../media/image-7-5.png"/><Relationship Id="rId6" Type="http://schemas.openxmlformats.org/officeDocument/2006/relationships/image" Target="../media/image-7-6.svg"/><Relationship Id="rId7" Type="http://schemas.openxmlformats.org/officeDocument/2006/relationships/image" Target="../media/image-7-5.png"/><Relationship Id="rId8" Type="http://schemas.openxmlformats.org/officeDocument/2006/relationships/image" Target="../media/image-7-6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png"/><Relationship Id="rId3" Type="http://schemas.openxmlformats.org/officeDocument/2006/relationships/image" Target="../media/image-9-3.svg"/><Relationship Id="rId4" Type="http://schemas.openxmlformats.org/officeDocument/2006/relationships/image" Target="../media/image-9-2.png"/><Relationship Id="rId5" Type="http://schemas.openxmlformats.org/officeDocument/2006/relationships/image" Target="../media/image-9-3.svg"/><Relationship Id="rId6" Type="http://schemas.openxmlformats.org/officeDocument/2006/relationships/image" Target="../media/image-9-2.png"/><Relationship Id="rId7" Type="http://schemas.openxmlformats.org/officeDocument/2006/relationships/image" Target="../media/image-9-3.svg"/><Relationship Id="rId8" Type="http://schemas.openxmlformats.org/officeDocument/2006/relationships/image" Target="../media/image-9-2.png"/><Relationship Id="rId9" Type="http://schemas.openxmlformats.org/officeDocument/2006/relationships/image" Target="../media/image-9-3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jpeg"/><Relationship Id="rId3" Type="http://schemas.openxmlformats.org/officeDocument/2006/relationships/image" Target="../media/image-10-3.jpeg"/><Relationship Id="rId4" Type="http://schemas.openxmlformats.org/officeDocument/2006/relationships/image" Target="../media/image-10-4.jpe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582713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IBM Employee Attrition Analysis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2681288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 data-driven diagnostic study of workforce attrition patterns — identifying who is leaving, when, and why — to enable targeted retention strategies.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496119" y="3294385"/>
            <a:ext cx="1556891" cy="266402"/>
          </a:xfrm>
          <a:prstGeom prst="roundRect">
            <a:avLst>
              <a:gd name="adj" fmla="val 6386"/>
            </a:avLst>
          </a:prstGeom>
          <a:solidFill>
            <a:srgbClr val="33221A"/>
          </a:solidFill>
          <a:ln/>
        </p:spPr>
      </p:sp>
      <p:sp>
        <p:nvSpPr>
          <p:cNvPr id="6" name="Text 3"/>
          <p:cNvSpPr/>
          <p:nvPr/>
        </p:nvSpPr>
        <p:spPr>
          <a:xfrm>
            <a:off x="581174" y="3336875"/>
            <a:ext cx="1843980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WORKFORCE ANALYTICS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2123852" y="3294385"/>
            <a:ext cx="1005929" cy="266402"/>
          </a:xfrm>
          <a:prstGeom prst="roundRect">
            <a:avLst>
              <a:gd name="adj" fmla="val 6386"/>
            </a:avLst>
          </a:prstGeom>
          <a:noFill/>
          <a:ln/>
          <a:effectLst>
            <a:outerShdw sx="100000" sy="100000" kx="0" ky="0" algn="bl" rotWithShape="0" blurRad="101600" dist="50800" dir="16200000">
              <a:srgbClr val="c49f8c">
                <a:alpha val="10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2208907" y="3336875"/>
            <a:ext cx="1293019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C49F8C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1,470 RECORDS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3200623" y="3294385"/>
            <a:ext cx="1173807" cy="266402"/>
          </a:xfrm>
          <a:prstGeom prst="roundRect">
            <a:avLst>
              <a:gd name="adj" fmla="val 6386"/>
            </a:avLst>
          </a:prstGeom>
          <a:noFill/>
          <a:ln/>
          <a:effectLst>
            <a:outerShdw sx="100000" sy="100000" kx="0" ky="0" algn="bl" rotWithShape="0" blurRad="101600" dist="50800" dir="16200000">
              <a:srgbClr val="c49f8c">
                <a:alpha val="10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3285679" y="3336875"/>
            <a:ext cx="1460897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C49F8C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KAGGLE DATASET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789161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The Business Problem</a:t>
            </a:r>
            <a:endParaRPr lang="en-US" sz="2750" dirty="0"/>
          </a:p>
        </p:txBody>
      </p:sp>
      <p:sp>
        <p:nvSpPr>
          <p:cNvPr id="4" name="Shape 1"/>
          <p:cNvSpPr/>
          <p:nvPr/>
        </p:nvSpPr>
        <p:spPr>
          <a:xfrm>
            <a:off x="3925119" y="1444749"/>
            <a:ext cx="2290465" cy="1724099"/>
          </a:xfrm>
          <a:prstGeom prst="roundRect">
            <a:avLst>
              <a:gd name="adj" fmla="val 1233"/>
            </a:avLst>
          </a:prstGeom>
          <a:solidFill>
            <a:srgbClr val="373433"/>
          </a:solidFill>
          <a:ln/>
        </p:spPr>
      </p:sp>
      <p:sp>
        <p:nvSpPr>
          <p:cNvPr id="5" name="Text 2"/>
          <p:cNvSpPr/>
          <p:nvPr/>
        </p:nvSpPr>
        <p:spPr>
          <a:xfrm>
            <a:off x="4066877" y="1586508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~16% Attrition Rate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4066877" y="1893019"/>
            <a:ext cx="2006947" cy="1134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Approximately 16% of IBM employees experienced attrition during the analyzed period — a significant workforce loss requiring immediate attention.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6357342" y="1444749"/>
            <a:ext cx="2290539" cy="1724099"/>
          </a:xfrm>
          <a:prstGeom prst="roundRect">
            <a:avLst>
              <a:gd name="adj" fmla="val 1233"/>
            </a:avLst>
          </a:prstGeom>
          <a:solidFill>
            <a:srgbClr val="373433"/>
          </a:solidFill>
          <a:ln/>
        </p:spPr>
      </p:sp>
      <p:sp>
        <p:nvSpPr>
          <p:cNvPr id="8" name="Text 5"/>
          <p:cNvSpPr/>
          <p:nvPr/>
        </p:nvSpPr>
        <p:spPr>
          <a:xfrm>
            <a:off x="6499101" y="1586508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237 Employees Left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499101" y="1893019"/>
            <a:ext cx="2007022" cy="1134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Out of 1,470 records in the dataset, 237 employees exited — representing a critical impact on organizational stability and talent pipeline.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925119" y="3310607"/>
            <a:ext cx="4722763" cy="1043657"/>
          </a:xfrm>
          <a:prstGeom prst="roundRect">
            <a:avLst>
              <a:gd name="adj" fmla="val 2038"/>
            </a:avLst>
          </a:prstGeom>
          <a:solidFill>
            <a:srgbClr val="373433"/>
          </a:solidFill>
          <a:ln/>
        </p:spPr>
      </p:sp>
      <p:sp>
        <p:nvSpPr>
          <p:cNvPr id="11" name="Text 8"/>
          <p:cNvSpPr/>
          <p:nvPr/>
        </p:nvSpPr>
        <p:spPr>
          <a:xfrm>
            <a:off x="4066877" y="3452366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Core Objective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4066877" y="3758878"/>
            <a:ext cx="443924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Identify key patterns, trends, and root causes of attrition through descriptive and diagnostic analysis to reduce costs and retain talent.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13072"/>
            <a:ext cx="2928119" cy="228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Dataset &amp; Analytical Approach</a:t>
            </a:r>
            <a:endParaRPr lang="en-US" sz="1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740346"/>
            <a:ext cx="5236220" cy="296718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915397" y="1939230"/>
            <a:ext cx="1370930" cy="1142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Dataset Overview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5915397" y="2091110"/>
            <a:ext cx="2737172" cy="2656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5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1,470 records covering employee demographics, job details, compensation, and attrition status. Key variables include Age Category, Gender, Department, Job Level, Salary Hike, Overtime, Role Duration, and Environment Satisfaction.</a:t>
            </a:r>
            <a:endParaRPr lang="en-US" sz="550" dirty="0"/>
          </a:p>
        </p:txBody>
      </p:sp>
      <p:sp>
        <p:nvSpPr>
          <p:cNvPr id="6" name="Text 3"/>
          <p:cNvSpPr/>
          <p:nvPr/>
        </p:nvSpPr>
        <p:spPr>
          <a:xfrm>
            <a:off x="5915397" y="2394421"/>
            <a:ext cx="1370930" cy="1142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Methodology</a:t>
            </a:r>
            <a:endParaRPr lang="en-US" sz="700" dirty="0"/>
          </a:p>
        </p:txBody>
      </p:sp>
      <p:sp>
        <p:nvSpPr>
          <p:cNvPr id="7" name="Text 4"/>
          <p:cNvSpPr/>
          <p:nvPr/>
        </p:nvSpPr>
        <p:spPr>
          <a:xfrm>
            <a:off x="496119" y="3792215"/>
            <a:ext cx="146149" cy="913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C9C2C0"/>
                </a:solidFill>
                <a:latin typeface="Gelasio Light" pitchFamily="34" charset="0"/>
                <a:ea typeface="Gelasio Light" pitchFamily="34" charset="-122"/>
                <a:cs typeface="Gelasio Light" pitchFamily="34" charset="-120"/>
              </a:rPr>
              <a:t>01</a:t>
            </a:r>
            <a:endParaRPr lang="en-US" sz="550" dirty="0"/>
          </a:p>
        </p:txBody>
      </p:sp>
      <p:sp>
        <p:nvSpPr>
          <p:cNvPr id="8" name="Shape 5"/>
          <p:cNvSpPr/>
          <p:nvPr/>
        </p:nvSpPr>
        <p:spPr>
          <a:xfrm>
            <a:off x="496119" y="3906813"/>
            <a:ext cx="4057055" cy="9525"/>
          </a:xfrm>
          <a:prstGeom prst="rect">
            <a:avLst/>
          </a:prstGeom>
          <a:solidFill>
            <a:srgbClr val="C49F8C"/>
          </a:solidFill>
          <a:ln/>
        </p:spPr>
      </p:sp>
      <p:sp>
        <p:nvSpPr>
          <p:cNvPr id="9" name="Text 6"/>
          <p:cNvSpPr/>
          <p:nvPr/>
        </p:nvSpPr>
        <p:spPr>
          <a:xfrm>
            <a:off x="496119" y="3962400"/>
            <a:ext cx="913730" cy="1142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Preprocessing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496119" y="4099173"/>
            <a:ext cx="4057055" cy="88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5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Data cleaning in Excel</a:t>
            </a:r>
            <a:endParaRPr lang="en-US" sz="550" dirty="0"/>
          </a:p>
        </p:txBody>
      </p:sp>
      <p:sp>
        <p:nvSpPr>
          <p:cNvPr id="11" name="Text 8"/>
          <p:cNvSpPr/>
          <p:nvPr/>
        </p:nvSpPr>
        <p:spPr>
          <a:xfrm>
            <a:off x="4590827" y="3792215"/>
            <a:ext cx="146149" cy="913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C9C2C0"/>
                </a:solidFill>
                <a:latin typeface="Gelasio Light" pitchFamily="34" charset="0"/>
                <a:ea typeface="Gelasio Light" pitchFamily="34" charset="-122"/>
                <a:cs typeface="Gelasio Light" pitchFamily="34" charset="-120"/>
              </a:rPr>
              <a:t>02</a:t>
            </a:r>
            <a:endParaRPr lang="en-US" sz="550" dirty="0"/>
          </a:p>
        </p:txBody>
      </p:sp>
      <p:sp>
        <p:nvSpPr>
          <p:cNvPr id="12" name="Shape 9"/>
          <p:cNvSpPr/>
          <p:nvPr/>
        </p:nvSpPr>
        <p:spPr>
          <a:xfrm>
            <a:off x="4590827" y="3906813"/>
            <a:ext cx="4057055" cy="9525"/>
          </a:xfrm>
          <a:prstGeom prst="rect">
            <a:avLst/>
          </a:prstGeom>
          <a:solidFill>
            <a:srgbClr val="C49F8C"/>
          </a:solidFill>
          <a:ln/>
        </p:spPr>
      </p:sp>
      <p:sp>
        <p:nvSpPr>
          <p:cNvPr id="13" name="Text 10"/>
          <p:cNvSpPr/>
          <p:nvPr/>
        </p:nvSpPr>
        <p:spPr>
          <a:xfrm>
            <a:off x="4590827" y="3962400"/>
            <a:ext cx="913730" cy="1142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SQL Setup</a:t>
            </a:r>
            <a:endParaRPr lang="en-US" sz="700" dirty="0"/>
          </a:p>
        </p:txBody>
      </p:sp>
      <p:sp>
        <p:nvSpPr>
          <p:cNvPr id="14" name="Text 11"/>
          <p:cNvSpPr/>
          <p:nvPr/>
        </p:nvSpPr>
        <p:spPr>
          <a:xfrm>
            <a:off x="4590827" y="4099173"/>
            <a:ext cx="4057055" cy="88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5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IBM_Attrition database created</a:t>
            </a:r>
            <a:endParaRPr lang="en-US" sz="550" dirty="0"/>
          </a:p>
        </p:txBody>
      </p:sp>
      <p:sp>
        <p:nvSpPr>
          <p:cNvPr id="15" name="Text 12"/>
          <p:cNvSpPr/>
          <p:nvPr/>
        </p:nvSpPr>
        <p:spPr>
          <a:xfrm>
            <a:off x="496119" y="4280148"/>
            <a:ext cx="146149" cy="913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C9C2C0"/>
                </a:solidFill>
                <a:latin typeface="Gelasio Light" pitchFamily="34" charset="0"/>
                <a:ea typeface="Gelasio Light" pitchFamily="34" charset="-122"/>
                <a:cs typeface="Gelasio Light" pitchFamily="34" charset="-120"/>
              </a:rPr>
              <a:t>03</a:t>
            </a:r>
            <a:endParaRPr lang="en-US" sz="550" dirty="0"/>
          </a:p>
        </p:txBody>
      </p:sp>
      <p:sp>
        <p:nvSpPr>
          <p:cNvPr id="16" name="Shape 13"/>
          <p:cNvSpPr/>
          <p:nvPr/>
        </p:nvSpPr>
        <p:spPr>
          <a:xfrm>
            <a:off x="496119" y="4394746"/>
            <a:ext cx="4057055" cy="9525"/>
          </a:xfrm>
          <a:prstGeom prst="rect">
            <a:avLst/>
          </a:prstGeom>
          <a:solidFill>
            <a:srgbClr val="C49F8C"/>
          </a:solidFill>
          <a:ln/>
        </p:spPr>
      </p:sp>
      <p:sp>
        <p:nvSpPr>
          <p:cNvPr id="17" name="Text 14"/>
          <p:cNvSpPr/>
          <p:nvPr/>
        </p:nvSpPr>
        <p:spPr>
          <a:xfrm>
            <a:off x="496119" y="4450333"/>
            <a:ext cx="913730" cy="1142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Descriptive Analysis</a:t>
            </a:r>
            <a:endParaRPr lang="en-US" sz="700" dirty="0"/>
          </a:p>
        </p:txBody>
      </p:sp>
      <p:sp>
        <p:nvSpPr>
          <p:cNvPr id="18" name="Text 15"/>
          <p:cNvSpPr/>
          <p:nvPr/>
        </p:nvSpPr>
        <p:spPr>
          <a:xfrm>
            <a:off x="496119" y="4587106"/>
            <a:ext cx="4057055" cy="88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5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Who, When &amp; Why</a:t>
            </a:r>
            <a:endParaRPr lang="en-US" sz="550" dirty="0"/>
          </a:p>
        </p:txBody>
      </p:sp>
      <p:sp>
        <p:nvSpPr>
          <p:cNvPr id="19" name="Text 16"/>
          <p:cNvSpPr/>
          <p:nvPr/>
        </p:nvSpPr>
        <p:spPr>
          <a:xfrm>
            <a:off x="4590827" y="4280148"/>
            <a:ext cx="146149" cy="913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C9C2C0"/>
                </a:solidFill>
                <a:latin typeface="Gelasio Light" pitchFamily="34" charset="0"/>
                <a:ea typeface="Gelasio Light" pitchFamily="34" charset="-122"/>
                <a:cs typeface="Gelasio Light" pitchFamily="34" charset="-120"/>
              </a:rPr>
              <a:t>04</a:t>
            </a:r>
            <a:endParaRPr lang="en-US" sz="550" dirty="0"/>
          </a:p>
        </p:txBody>
      </p:sp>
      <p:sp>
        <p:nvSpPr>
          <p:cNvPr id="20" name="Shape 17"/>
          <p:cNvSpPr/>
          <p:nvPr/>
        </p:nvSpPr>
        <p:spPr>
          <a:xfrm>
            <a:off x="4590827" y="4394746"/>
            <a:ext cx="4057055" cy="9525"/>
          </a:xfrm>
          <a:prstGeom prst="rect">
            <a:avLst/>
          </a:prstGeom>
          <a:solidFill>
            <a:srgbClr val="C49F8C"/>
          </a:solidFill>
          <a:ln/>
        </p:spPr>
      </p:sp>
      <p:sp>
        <p:nvSpPr>
          <p:cNvPr id="21" name="Text 18"/>
          <p:cNvSpPr/>
          <p:nvPr/>
        </p:nvSpPr>
        <p:spPr>
          <a:xfrm>
            <a:off x="4590827" y="4450333"/>
            <a:ext cx="913730" cy="1142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Diagnostic Analysis</a:t>
            </a:r>
            <a:endParaRPr lang="en-US" sz="700" dirty="0"/>
          </a:p>
        </p:txBody>
      </p:sp>
      <p:sp>
        <p:nvSpPr>
          <p:cNvPr id="22" name="Text 19"/>
          <p:cNvSpPr/>
          <p:nvPr/>
        </p:nvSpPr>
        <p:spPr>
          <a:xfrm>
            <a:off x="4590827" y="4587106"/>
            <a:ext cx="4057055" cy="88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5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Root cause investigation</a:t>
            </a:r>
            <a:endParaRPr lang="en-US" sz="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277392"/>
            <a:ext cx="6434138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Descriptive Analysis: Who Is Leaving?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2074738"/>
            <a:ext cx="2599134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6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63.29%</a:t>
            </a:r>
            <a:endParaRPr lang="en-US" sz="3650" dirty="0"/>
          </a:p>
        </p:txBody>
      </p:sp>
      <p:sp>
        <p:nvSpPr>
          <p:cNvPr id="4" name="Text 2"/>
          <p:cNvSpPr/>
          <p:nvPr/>
        </p:nvSpPr>
        <p:spPr>
          <a:xfrm>
            <a:off x="909637" y="2719685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Male Employees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96119" y="3026197"/>
            <a:ext cx="259913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150 out of 237 attritions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72433" y="2074738"/>
            <a:ext cx="2599134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6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82.28%</a:t>
            </a:r>
            <a:endParaRPr lang="en-US" sz="3650" dirty="0"/>
          </a:p>
        </p:txBody>
      </p:sp>
      <p:sp>
        <p:nvSpPr>
          <p:cNvPr id="7" name="Text 5"/>
          <p:cNvSpPr/>
          <p:nvPr/>
        </p:nvSpPr>
        <p:spPr>
          <a:xfrm>
            <a:off x="3685952" y="2719685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Basic Job Level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272433" y="3026197"/>
            <a:ext cx="259913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195 out of 237 attritions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48747" y="2074738"/>
            <a:ext cx="2599134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6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56.12%</a:t>
            </a:r>
            <a:endParaRPr lang="en-US" sz="3650" dirty="0"/>
          </a:p>
        </p:txBody>
      </p:sp>
      <p:sp>
        <p:nvSpPr>
          <p:cNvPr id="10" name="Text 8"/>
          <p:cNvSpPr/>
          <p:nvPr/>
        </p:nvSpPr>
        <p:spPr>
          <a:xfrm>
            <a:off x="6462266" y="2719685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R&amp;D Department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048747" y="3026197"/>
            <a:ext cx="259913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133 out of 237 attritions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96119" y="3412480"/>
            <a:ext cx="8151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Young employees showed the highest attrition by age category. Male employees, those at Basic Job Level, and R&amp;D department staff represent the most affected segments — pointing to systemic issues at the junior level.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991344"/>
            <a:ext cx="7760866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Descriptive Analysis: When &amp; Why They Leave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788691"/>
            <a:ext cx="2678385" cy="2309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⏱</a:t>
            </a:r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When Are They Leaving?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496119" y="2161431"/>
            <a:ext cx="390294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C9C2C0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77.22%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of attrited employees had a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C9C2C0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Short Role Duration (≤4 years)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— 183 out of 237. Employees are exiting early in their tenure, before reaching mid-level roles.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749701" y="1788691"/>
            <a:ext cx="2575322" cy="2309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💰</a:t>
            </a:r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Why Are They Leaving?</a:t>
            </a:r>
            <a:endParaRPr lang="en-US" sz="13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49701" y="2179141"/>
            <a:ext cx="1880592" cy="181354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986710" y="2339950"/>
            <a:ext cx="1482775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Poor Salary Hike — 84%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4986710" y="2924621"/>
            <a:ext cx="1482775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200 out of 237 received hikes below 20% — the dominant driver across all segments.</a:t>
            </a:r>
            <a:endParaRPr lang="en-US" sz="11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772052" y="2179141"/>
            <a:ext cx="1880592" cy="181354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009061" y="2339950"/>
            <a:ext cx="1482775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Overtime — 53.59%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7009061" y="2924621"/>
            <a:ext cx="1482775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127 out of 237 attrited employees were working overtime.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392683"/>
            <a:ext cx="4722763" cy="8167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5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Diagnostic Analysis: Root Cause Framework</a:t>
            </a:r>
            <a:endParaRPr lang="en-US" sz="2550" dirty="0"/>
          </a:p>
        </p:txBody>
      </p:sp>
      <p:sp>
        <p:nvSpPr>
          <p:cNvPr id="4" name="Text 1"/>
          <p:cNvSpPr/>
          <p:nvPr/>
        </p:nvSpPr>
        <p:spPr>
          <a:xfrm>
            <a:off x="496119" y="1390129"/>
            <a:ext cx="4722763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Diagnostic analysis investigated </a:t>
            </a:r>
            <a:pPr algn="l" indent="0" marL="0">
              <a:lnSpc>
                <a:spcPct val="128000"/>
              </a:lnSpc>
              <a:buNone/>
            </a:pPr>
            <a:r>
              <a:rPr lang="en-US" sz="1000" i="1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how and why</a:t>
            </a:r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attrition occurred by cross-analyzing multiple conditions. Three key parameters guided the investigation: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496119" y="1927324"/>
            <a:ext cx="2301106" cy="1451893"/>
          </a:xfrm>
          <a:prstGeom prst="roundRect">
            <a:avLst>
              <a:gd name="adj" fmla="val 1350"/>
            </a:avLst>
          </a:prstGeom>
          <a:solidFill>
            <a:srgbClr val="373433"/>
          </a:solidFill>
          <a:ln/>
        </p:spPr>
      </p:sp>
      <p:sp>
        <p:nvSpPr>
          <p:cNvPr id="6" name="Shape 3"/>
          <p:cNvSpPr/>
          <p:nvPr/>
        </p:nvSpPr>
        <p:spPr>
          <a:xfrm>
            <a:off x="626790" y="2057995"/>
            <a:ext cx="392013" cy="392013"/>
          </a:xfrm>
          <a:prstGeom prst="ellipse">
            <a:avLst/>
          </a:prstGeom>
          <a:solidFill>
            <a:srgbClr val="C49F8C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4616" y="2165747"/>
            <a:ext cx="176361" cy="17636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26790" y="2570485"/>
            <a:ext cx="1633612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Attrition Count</a:t>
            </a:r>
            <a:endParaRPr lang="en-US" sz="1250" dirty="0"/>
          </a:p>
        </p:txBody>
      </p:sp>
      <p:sp>
        <p:nvSpPr>
          <p:cNvPr id="9" name="Text 5"/>
          <p:cNvSpPr/>
          <p:nvPr/>
        </p:nvSpPr>
        <p:spPr>
          <a:xfrm>
            <a:off x="626790" y="2846859"/>
            <a:ext cx="2039764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Number of employees who left under specific conditions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2917701" y="1927324"/>
            <a:ext cx="2301180" cy="1451893"/>
          </a:xfrm>
          <a:prstGeom prst="roundRect">
            <a:avLst>
              <a:gd name="adj" fmla="val 1350"/>
            </a:avLst>
          </a:prstGeom>
          <a:solidFill>
            <a:srgbClr val="373433"/>
          </a:solidFill>
          <a:ln/>
        </p:spPr>
      </p:sp>
      <p:sp>
        <p:nvSpPr>
          <p:cNvPr id="11" name="Shape 7"/>
          <p:cNvSpPr/>
          <p:nvPr/>
        </p:nvSpPr>
        <p:spPr>
          <a:xfrm>
            <a:off x="3048372" y="2057995"/>
            <a:ext cx="392013" cy="392013"/>
          </a:xfrm>
          <a:prstGeom prst="ellipse">
            <a:avLst/>
          </a:prstGeom>
          <a:solidFill>
            <a:srgbClr val="C49F8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156198" y="2165747"/>
            <a:ext cx="176361" cy="176361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048372" y="2570485"/>
            <a:ext cx="1633612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Attrition %</a:t>
            </a:r>
            <a:endParaRPr lang="en-US" sz="1250" dirty="0"/>
          </a:p>
        </p:txBody>
      </p:sp>
      <p:sp>
        <p:nvSpPr>
          <p:cNvPr id="14" name="Text 9"/>
          <p:cNvSpPr/>
          <p:nvPr/>
        </p:nvSpPr>
        <p:spPr>
          <a:xfrm>
            <a:off x="3048372" y="2846859"/>
            <a:ext cx="2039838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Percentage of attrited employees meeting a condition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496119" y="3499693"/>
            <a:ext cx="4722763" cy="1251049"/>
          </a:xfrm>
          <a:prstGeom prst="roundRect">
            <a:avLst>
              <a:gd name="adj" fmla="val 1567"/>
            </a:avLst>
          </a:prstGeom>
          <a:solidFill>
            <a:srgbClr val="373433"/>
          </a:solidFill>
          <a:ln/>
        </p:spPr>
      </p:sp>
      <p:sp>
        <p:nvSpPr>
          <p:cNvPr id="16" name="Shape 11"/>
          <p:cNvSpPr/>
          <p:nvPr/>
        </p:nvSpPr>
        <p:spPr>
          <a:xfrm>
            <a:off x="626790" y="3630364"/>
            <a:ext cx="392013" cy="392013"/>
          </a:xfrm>
          <a:prstGeom prst="ellipse">
            <a:avLst/>
          </a:prstGeom>
          <a:solidFill>
            <a:srgbClr val="C49F8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34616" y="3738116"/>
            <a:ext cx="176361" cy="176361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26790" y="4142854"/>
            <a:ext cx="1633612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Cross-Analysis</a:t>
            </a:r>
            <a:endParaRPr lang="en-US" sz="1250" dirty="0"/>
          </a:p>
        </p:txBody>
      </p:sp>
      <p:sp>
        <p:nvSpPr>
          <p:cNvPr id="19" name="Text 13"/>
          <p:cNvSpPr/>
          <p:nvPr/>
        </p:nvSpPr>
        <p:spPr>
          <a:xfrm>
            <a:off x="626790" y="4419228"/>
            <a:ext cx="4461421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Combining multiple conditions to identify concentration of attrition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17178"/>
            <a:ext cx="572348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Key Diagnostic Findings (Q1–Q4)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1243682"/>
            <a:ext cx="4004965" cy="17338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392263" y="1342430"/>
            <a:ext cx="212601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1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656927" y="1829767"/>
            <a:ext cx="229574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Poor Hike — 84% of Attrition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656927" y="2136279"/>
            <a:ext cx="3683347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104 of 200 poorly-hiked leavers also worked overtime. Compensation is the dominant root cause across all segments.</a:t>
            </a:r>
            <a:endParaRPr lang="en-US" sz="11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42842" y="1243682"/>
            <a:ext cx="4005039" cy="173384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539061" y="1342430"/>
            <a:ext cx="212601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2</a:t>
            </a:r>
            <a:endParaRPr lang="en-US" sz="1650" dirty="0"/>
          </a:p>
        </p:txBody>
      </p:sp>
      <p:sp>
        <p:nvSpPr>
          <p:cNvPr id="9" name="Text 5"/>
          <p:cNvSpPr/>
          <p:nvPr/>
        </p:nvSpPr>
        <p:spPr>
          <a:xfrm>
            <a:off x="4803651" y="1829767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Overtime — 53.59%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4803651" y="2136279"/>
            <a:ext cx="368342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81% had Poor Hike and 85% were at Basic Job Level — a compounded burden making attrition nearly inevitable.</a:t>
            </a:r>
            <a:endParaRPr lang="en-US" sz="11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6119" y="3119289"/>
            <a:ext cx="4004965" cy="150703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2392263" y="3218036"/>
            <a:ext cx="212601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3</a:t>
            </a:r>
            <a:endParaRPr lang="en-US" sz="1650" dirty="0"/>
          </a:p>
        </p:txBody>
      </p:sp>
      <p:sp>
        <p:nvSpPr>
          <p:cNvPr id="13" name="Text 8"/>
          <p:cNvSpPr/>
          <p:nvPr/>
        </p:nvSpPr>
        <p:spPr>
          <a:xfrm>
            <a:off x="656927" y="3705374"/>
            <a:ext cx="209847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R&amp;D — 56.12% of Attrition</a:t>
            </a:r>
            <a:endParaRPr lang="en-US" sz="1350" dirty="0"/>
          </a:p>
        </p:txBody>
      </p:sp>
      <p:sp>
        <p:nvSpPr>
          <p:cNvPr id="14" name="Text 9"/>
          <p:cNvSpPr/>
          <p:nvPr/>
        </p:nvSpPr>
        <p:spPr>
          <a:xfrm>
            <a:off x="656927" y="4011885"/>
            <a:ext cx="368334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87% of R&amp;D leavers were Basic Level and 80% had Poor Hike — losing fresh technical talent.</a:t>
            </a:r>
            <a:endParaRPr lang="en-US" sz="11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42842" y="3119289"/>
            <a:ext cx="4005039" cy="1507034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539061" y="3218036"/>
            <a:ext cx="212601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4</a:t>
            </a:r>
            <a:endParaRPr lang="en-US" sz="1650" dirty="0"/>
          </a:p>
        </p:txBody>
      </p:sp>
      <p:sp>
        <p:nvSpPr>
          <p:cNvPr id="17" name="Text 11"/>
          <p:cNvSpPr/>
          <p:nvPr/>
        </p:nvSpPr>
        <p:spPr>
          <a:xfrm>
            <a:off x="4803651" y="3705374"/>
            <a:ext cx="211328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Male Employees — 63.29%</a:t>
            </a:r>
            <a:endParaRPr lang="en-US" sz="1350" dirty="0"/>
          </a:p>
        </p:txBody>
      </p:sp>
      <p:sp>
        <p:nvSpPr>
          <p:cNvPr id="18" name="Text 12"/>
          <p:cNvSpPr/>
          <p:nvPr/>
        </p:nvSpPr>
        <p:spPr>
          <a:xfrm>
            <a:off x="4803651" y="4011885"/>
            <a:ext cx="368342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85% had Poor Hike, 83% were Basic Level, 79% had Short Role Duration — triple stagnation.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3576"/>
            <a:ext cx="3195935" cy="228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Key Diagnostic Findings (Q5–Q8)</a:t>
            </a:r>
            <a:endParaRPr lang="en-US" sz="1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720849"/>
            <a:ext cx="3986733" cy="398673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65911" y="2340620"/>
            <a:ext cx="1370930" cy="1142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Highest-Risk Clusters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4665911" y="2492499"/>
            <a:ext cx="3986733" cy="5990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5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Basic Level + Short Duration + Poor Hike is the most concentrated risk cluster — </a:t>
            </a:r>
            <a:pPr algn="l" indent="0" marL="0">
              <a:lnSpc>
                <a:spcPct val="101000"/>
              </a:lnSpc>
              <a:buNone/>
            </a:pPr>
            <a:r>
              <a:rPr lang="en-US" sz="550" b="1" dirty="0">
                <a:solidFill>
                  <a:srgbClr val="C9C2C0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169 out of 237 (71.31%)</a:t>
            </a:r>
            <a:pPr algn="l" indent="0" marL="0">
              <a:lnSpc>
                <a:spcPct val="101000"/>
              </a:lnSpc>
              <a:spcAft>
                <a:spcPts val="250"/>
              </a:spcAft>
              <a:buNone/>
            </a:pPr>
            <a:r>
              <a:rPr lang="en-US" sz="5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fall into this profile.</a:t>
            </a:r>
            <a:endParaRPr lang="en-US" sz="550" dirty="0"/>
          </a:p>
          <a:p>
            <a:pPr algn="l" indent="0" marL="0">
              <a:lnSpc>
                <a:spcPct val="101000"/>
              </a:lnSpc>
              <a:buNone/>
            </a:pPr>
            <a:r>
              <a:rPr lang="en-US" sz="5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Three roles — </a:t>
            </a:r>
            <a:pPr algn="l" indent="0" marL="0">
              <a:lnSpc>
                <a:spcPct val="101000"/>
              </a:lnSpc>
              <a:buNone/>
            </a:pPr>
            <a:r>
              <a:rPr lang="en-US" sz="550" b="1" dirty="0">
                <a:solidFill>
                  <a:srgbClr val="C9C2C0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Lab Technician, Sales Executive, Research Scientist</a:t>
            </a:r>
            <a:pPr algn="l" indent="0" marL="0">
              <a:lnSpc>
                <a:spcPct val="101000"/>
              </a:lnSpc>
              <a:spcAft>
                <a:spcPts val="250"/>
              </a:spcAft>
              <a:buNone/>
            </a:pPr>
            <a:r>
              <a:rPr lang="en-US" sz="5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— contribute 70% of attrition, reflecting systemic undervaluation of frontline roles.</a:t>
            </a:r>
            <a:endParaRPr lang="en-US" sz="550" dirty="0"/>
          </a:p>
          <a:p>
            <a:pPr algn="l" indent="0" marL="0">
              <a:lnSpc>
                <a:spcPct val="101000"/>
              </a:lnSpc>
              <a:buNone/>
            </a:pPr>
            <a:r>
              <a:rPr lang="en-US" sz="550" b="1" dirty="0">
                <a:solidFill>
                  <a:srgbClr val="C9C2C0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Female attrition</a:t>
            </a:r>
            <a:pPr algn="l" indent="0" marL="0">
              <a:lnSpc>
                <a:spcPct val="101000"/>
              </a:lnSpc>
              <a:buNone/>
            </a:pPr>
            <a:r>
              <a:rPr lang="en-US" sz="5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uniquely involves environment satisfaction (55.17%) and overtime (54.02%) beyond compensation — requiring targeted workplace improvements.</a:t>
            </a:r>
            <a:endParaRPr lang="en-US" sz="5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408980"/>
            <a:ext cx="4722763" cy="802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0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Diagnostic Summary: The Core Drivers</a:t>
            </a:r>
            <a:endParaRPr lang="en-US" sz="25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73264" y="1390427"/>
            <a:ext cx="192658" cy="19265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342581" y="1386483"/>
            <a:ext cx="2281982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Poor Compensation is Universal</a:t>
            </a:r>
            <a:endParaRPr lang="en-US" sz="1250" dirty="0"/>
          </a:p>
        </p:txBody>
      </p:sp>
      <p:sp>
        <p:nvSpPr>
          <p:cNvPr id="6" name="Text 2"/>
          <p:cNvSpPr/>
          <p:nvPr/>
        </p:nvSpPr>
        <p:spPr>
          <a:xfrm>
            <a:off x="4342581" y="1656978"/>
            <a:ext cx="4305300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84% of all attrition linked to Poor Hike — the single most actionable driver across every segment.</a:t>
            </a:r>
            <a:endParaRPr lang="en-US" sz="10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73264" y="2285628"/>
            <a:ext cx="192658" cy="19265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342581" y="2281684"/>
            <a:ext cx="3018830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Junior + Overtime = Highest Vulnerability</a:t>
            </a:r>
            <a:endParaRPr lang="en-US" sz="1250" dirty="0"/>
          </a:p>
        </p:txBody>
      </p:sp>
      <p:sp>
        <p:nvSpPr>
          <p:cNvPr id="9" name="Text 4"/>
          <p:cNvSpPr/>
          <p:nvPr/>
        </p:nvSpPr>
        <p:spPr>
          <a:xfrm>
            <a:off x="4342581" y="2552179"/>
            <a:ext cx="4305300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Among overtime leavers, 81% were poorly compensated and 85% were Basic Level.</a:t>
            </a:r>
            <a:endParaRPr lang="en-US" sz="10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973264" y="3180829"/>
            <a:ext cx="192658" cy="19265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4342581" y="3176885"/>
            <a:ext cx="1987525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R&amp;D Talent Pipeline at Risk</a:t>
            </a:r>
            <a:endParaRPr lang="en-US" sz="1250" dirty="0"/>
          </a:p>
        </p:txBody>
      </p:sp>
      <p:sp>
        <p:nvSpPr>
          <p:cNvPr id="12" name="Text 6"/>
          <p:cNvSpPr/>
          <p:nvPr/>
        </p:nvSpPr>
        <p:spPr>
          <a:xfrm>
            <a:off x="4342581" y="3447380"/>
            <a:ext cx="4305300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56% of attrition from R&amp;D, with 87% at Basic Level — threatening innovation capacity.</a:t>
            </a:r>
            <a:endParaRPr lang="en-US" sz="10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973264" y="4076030"/>
            <a:ext cx="192658" cy="192658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4342581" y="4072086"/>
            <a:ext cx="3114824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Frontline Roles Systematically Undervalued</a:t>
            </a:r>
            <a:endParaRPr lang="en-US" sz="1250" dirty="0"/>
          </a:p>
        </p:txBody>
      </p:sp>
      <p:sp>
        <p:nvSpPr>
          <p:cNvPr id="15" name="Text 8"/>
          <p:cNvSpPr/>
          <p:nvPr/>
        </p:nvSpPr>
        <p:spPr>
          <a:xfrm>
            <a:off x="4342581" y="4342581"/>
            <a:ext cx="4305300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Lab Technician, Sales Executive, and Research Scientist roles account for 70% of exits.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800398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Recommendations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526902"/>
            <a:ext cx="838200" cy="5179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2222078"/>
            <a:ext cx="1905000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Revise Salary Hike Policy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96119" y="2750046"/>
            <a:ext cx="1905000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Introduce merit-based compensation with a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C9C2C0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minimum 20% hike threshold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for performers.</a:t>
            </a:r>
            <a:endParaRPr lang="en-US" sz="11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8298" y="1526902"/>
            <a:ext cx="838200" cy="51799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578298" y="2222078"/>
            <a:ext cx="1905074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Regulate Junior Overtime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2578298" y="2750046"/>
            <a:ext cx="190507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Introduce overtime compensation, compensatory leave, or a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C9C2C0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formal cap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for Basic Level employees.</a:t>
            </a:r>
            <a:endParaRPr lang="en-US" sz="11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0553" y="1526902"/>
            <a:ext cx="838200" cy="51799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660553" y="2222078"/>
            <a:ext cx="188907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R&amp;D Retention Strategy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4660553" y="2528590"/>
            <a:ext cx="190507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Department-specific pay band revision and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C9C2C0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accelerated promotion cycles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for R&amp;D roles.</a:t>
            </a:r>
            <a:endParaRPr lang="en-US" sz="11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2807" y="1526902"/>
            <a:ext cx="838200" cy="51799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742807" y="2222078"/>
            <a:ext cx="179918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Targeted Interventions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6742807" y="2528590"/>
            <a:ext cx="1905074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Role-specific incentives for Lab Technician, Sales Executive, Research Scientist. Flexible work and mentoring for female employees. Upskilling for single employees; family benefits for married employees.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2026-07-05T13:59:09Z</dcterms:created>
  <dcterms:modified xsi:type="dcterms:W3CDTF">2026-07-05T13:59:09Z</dcterms:modified>
</cp:coreProperties>
</file>